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9171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24847" y="80079"/>
            <a:ext cx="2926080" cy="50703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666875"/>
            <a:ext cx="23774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816953"/>
            <a:ext cx="237744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C8DCF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79" y="489966"/>
            <a:ext cx="2719647" cy="11612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1976174"/>
            <a:ext cx="2673926" cy="858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R&amp;D Institute,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50292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Resource-Efficient</a:t>
            </a:r>
            <a:endParaRPr lang="en-US" sz="3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Ensemble</a:t>
            </a:r>
            <a:endParaRPr lang="en-US" sz="3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Automated Content</a:t>
            </a:r>
            <a:endParaRPr lang="en-US" sz="3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Validation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502920" y="3611880"/>
            <a:ext cx="25603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611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Devansh Singh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DD2D06-4C81-592D-D4D4-8F0746A95506}"/>
              </a:ext>
            </a:extLst>
          </p:cNvPr>
          <p:cNvSpPr/>
          <p:nvPr/>
        </p:nvSpPr>
        <p:spPr>
          <a:xfrm>
            <a:off x="6355079" y="1489364"/>
            <a:ext cx="2601885" cy="1382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561"/>
          </a:solidFill>
          <a:ln w="12700">
            <a:solidFill>
              <a:srgbClr val="1A2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1" y="804672"/>
            <a:ext cx="3090671" cy="1380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04672"/>
            <a:ext cx="73152" cy="13533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85039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1106424"/>
            <a:ext cx="3035808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lock screens display third-party content (from Glance) to millions of devices. Each story must pass 20+ compliance criteria before deployment.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2249424"/>
            <a:ext cx="3090670" cy="822960"/>
          </a:xfrm>
          <a:prstGeom prst="rect">
            <a:avLst/>
          </a:prstGeom>
          <a:solidFill>
            <a:srgbClr val="1A2561"/>
          </a:solidFill>
          <a:ln w="12700">
            <a:solidFill>
              <a:srgbClr val="1A25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" y="2249424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B705"/>
                </a:solidFill>
              </a:rPr>
              <a:t>40+ hrs/week</a:t>
            </a:r>
            <a:r>
              <a:rPr lang="en-US" sz="1100" dirty="0">
                <a:solidFill>
                  <a:srgbClr val="FFFFFF"/>
                </a:solidFill>
              </a:rPr>
              <a:t>  manual validation — subjective &amp; unscalable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7473" y="3163824"/>
            <a:ext cx="309067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" y="3218688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" y="3529584"/>
            <a:ext cx="303580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task-decomposed ensemble of small, specialized models match the accuracy of large-scale models under a strict &lt;3 GB VRAM constraint?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553137" y="667512"/>
            <a:ext cx="1636776" cy="3950208"/>
          </a:xfrm>
          <a:prstGeom prst="rect">
            <a:avLst/>
          </a:prstGeom>
          <a:solidFill>
            <a:srgbClr val="FEE8E8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53137" y="667512"/>
            <a:ext cx="1636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Non-Compliant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713" y="1014984"/>
            <a:ext cx="1563624" cy="34747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455186" y="4604004"/>
            <a:ext cx="1636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 unreadable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(non-English script)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372793" y="667512"/>
            <a:ext cx="1636776" cy="3950208"/>
          </a:xfrm>
          <a:prstGeom prst="rect">
            <a:avLst/>
          </a:prstGeom>
          <a:solidFill>
            <a:srgbClr val="E8F8F0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372793" y="667512"/>
            <a:ext cx="1636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Compliant</a:t>
            </a:r>
            <a:endParaRPr lang="en-US" sz="11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9369" y="1014984"/>
            <a:ext cx="1563624" cy="34747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08459" y="4604004"/>
            <a:ext cx="1636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tagline, CTA,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00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content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118970" y="3493008"/>
            <a:ext cx="1945456" cy="1347939"/>
          </a:xfrm>
          <a:prstGeom prst="rect">
            <a:avLst/>
          </a:prstGeom>
          <a:solidFill>
            <a:srgbClr val="FFF8E6"/>
          </a:solidFill>
          <a:ln w="12700">
            <a:solidFill>
              <a:srgbClr val="F2B70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7155873" y="3304665"/>
            <a:ext cx="1844219" cy="15998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CORE FINDING: </a:t>
            </a:r>
            <a:r>
              <a:rPr lang="en-US" sz="1100" dirty="0"/>
              <a:t>Typical VLMs</a:t>
            </a: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all criteria simultaneously → </a:t>
            </a: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≈30% accuracy.</a:t>
            </a: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Excelled at text but failed on semantic tasks.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C36FF51A-D13E-CFF9-BA8A-F061E3B05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6144" y="708443"/>
            <a:ext cx="2097855" cy="25091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561"/>
          </a:solidFill>
          <a:ln w="12700">
            <a:solidFill>
              <a:srgbClr val="1A2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METHODS — Task-Decomposed Ensemble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7472" y="74980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43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Assign each compliance task to the model architecturally best suited for it.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91840" y="1170432"/>
            <a:ext cx="2560320" cy="502920"/>
          </a:xfrm>
          <a:prstGeom prst="rect">
            <a:avLst/>
          </a:prstGeom>
          <a:solidFill>
            <a:srgbClr val="1A2561"/>
          </a:solidFill>
          <a:ln w="12700">
            <a:solidFill>
              <a:srgbClr val="1A25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91840" y="11704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Lock Screen Image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0" y="1673352"/>
            <a:ext cx="0" cy="201168"/>
          </a:xfrm>
          <a:prstGeom prst="line">
            <a:avLst/>
          </a:prstGeom>
          <a:noFill/>
          <a:ln w="19050">
            <a:solidFill>
              <a:srgbClr val="8A9BB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91640" y="1874520"/>
            <a:ext cx="5760720" cy="0"/>
          </a:xfrm>
          <a:prstGeom prst="line">
            <a:avLst/>
          </a:prstGeom>
          <a:noFill/>
          <a:ln w="19050">
            <a:solidFill>
              <a:srgbClr val="8A9BB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91640" y="1874520"/>
            <a:ext cx="0" cy="256032"/>
          </a:xfrm>
          <a:prstGeom prst="line">
            <a:avLst/>
          </a:prstGeom>
          <a:noFill/>
          <a:ln w="19050">
            <a:solidFill>
              <a:srgbClr val="8A9BB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1874520"/>
            <a:ext cx="0" cy="256032"/>
          </a:xfrm>
          <a:prstGeom prst="line">
            <a:avLst/>
          </a:prstGeom>
          <a:noFill/>
          <a:ln w="19050">
            <a:solidFill>
              <a:srgbClr val="8A9BB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52360" y="1874520"/>
            <a:ext cx="0" cy="256032"/>
          </a:xfrm>
          <a:prstGeom prst="line">
            <a:avLst/>
          </a:prstGeom>
          <a:noFill/>
          <a:ln w="19050">
            <a:solidFill>
              <a:srgbClr val="8A9BB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2130552"/>
            <a:ext cx="274320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20040" y="213055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 GB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00400" y="2130552"/>
            <a:ext cx="2743200" cy="594360"/>
          </a:xfrm>
          <a:prstGeom prst="rect">
            <a:avLst/>
          </a:prstGeom>
          <a:solidFill>
            <a:srgbClr val="1A2561"/>
          </a:solidFill>
          <a:ln w="12700">
            <a:solidFill>
              <a:srgbClr val="1A25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200400" y="213055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InternVL 2.5-1B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~1.8 GB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80760" y="2130552"/>
            <a:ext cx="2743200" cy="5943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080760" y="213055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(OpenAI)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 GB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20040" y="28346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" y="2834640"/>
            <a:ext cx="27432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28346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Proxy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29768" y="3145536"/>
            <a:ext cx="2523744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tagline?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image?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tagline?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0" y="28346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5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00400" y="2834640"/>
            <a:ext cx="2743200" cy="292608"/>
          </a:xfrm>
          <a:prstGeom prst="rect">
            <a:avLst/>
          </a:prstGeom>
          <a:solidFill>
            <a:srgbClr val="1A2561"/>
          </a:solidFill>
          <a:ln w="12700">
            <a:solidFill>
              <a:srgbClr val="1A256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0" y="28346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OCR + VQA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310128" y="3145536"/>
            <a:ext cx="2523744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CTAs / price tags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T&amp;Cs / hyperlinks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Ribbon &amp; logo overlap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080760" y="28346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080760" y="2834640"/>
            <a:ext cx="274320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80760" y="28346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Classification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190488" y="3145536"/>
            <a:ext cx="2523744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/ Religious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/ Gambling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appropriateness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200400" y="4361688"/>
            <a:ext cx="2743200" cy="3657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0" y="4361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Pipeline: ~2.6 GB VRAM  ✓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561"/>
          </a:solidFill>
          <a:ln w="12700">
            <a:solidFill>
              <a:srgbClr val="1A2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METHODS — Model Selection Rationale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22960"/>
            <a:ext cx="9144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EasyOCR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21615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Proxy  |  ~0.3 GB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44368" y="950976"/>
            <a:ext cx="0" cy="960120"/>
          </a:xfrm>
          <a:prstGeom prst="line">
            <a:avLst/>
          </a:prstGeom>
          <a:noFill/>
          <a:ln w="12700">
            <a:solidFill>
              <a:srgbClr val="C8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0672" y="91440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less accurate — exploited as a human readability proxy. If EasyOCR cannot read the tagline, a lock screen user likely cannot either.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" y="2176272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5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2176272"/>
            <a:ext cx="91440" cy="1234440"/>
          </a:xfrm>
          <a:prstGeom prst="rect">
            <a:avLst/>
          </a:prstGeom>
          <a:solidFill>
            <a:srgbClr val="1A2561"/>
          </a:solidFill>
          <a:ln w="12700">
            <a:solidFill>
              <a:srgbClr val="1A25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InternVL 2.5-1B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56946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OCR + VQA  |  ~1.8 GB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44368" y="2304288"/>
            <a:ext cx="0" cy="960120"/>
          </a:xfrm>
          <a:prstGeom prst="line">
            <a:avLst/>
          </a:prstGeom>
          <a:noFill/>
          <a:ln w="12700">
            <a:solidFill>
              <a:srgbClr val="C8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2267712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OCR accuracy across colorful backgrounds. Handles visual grounding via VQA — ribbon detection, logo overlap, CTA and price/T&amp;C extraction.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7472" y="3529584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3529584"/>
            <a:ext cx="91440" cy="12344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2102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CLIP (OpenAI)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92277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Classification  |  ~0.5 GB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44368" y="3657600"/>
            <a:ext cx="0" cy="960120"/>
          </a:xfrm>
          <a:prstGeom prst="line">
            <a:avLst/>
          </a:prstGeom>
          <a:noFill/>
          <a:ln w="12700">
            <a:solidFill>
              <a:srgbClr val="C8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90672" y="3621024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contrastive classification. Image and text labels mapped to a shared embedding space; cosine similarity determines classification.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0760" y="804672"/>
            <a:ext cx="2926080" cy="3270093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80760" y="8046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3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Criteria Tree</a:t>
            </a:r>
            <a:endParaRPr lang="en-US" sz="10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78992"/>
            <a:ext cx="2834640" cy="2886045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561"/>
          </a:solidFill>
          <a:ln w="12700">
            <a:solidFill>
              <a:srgbClr val="1A2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METHODS — Open-Vocabulary Semantic Classification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7472" y="804672"/>
            <a:ext cx="8503920" cy="457200"/>
          </a:xfrm>
          <a:prstGeom prst="rect">
            <a:avLst/>
          </a:prstGeom>
          <a:solidFill>
            <a:srgbClr val="FFF8E6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0467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criteria evolve constantly. Re-engineering VLM prompts for each new rule is expensive and error-prone.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335024"/>
            <a:ext cx="8503920" cy="475488"/>
          </a:xfrm>
          <a:prstGeom prst="rect">
            <a:avLst/>
          </a:prstGeom>
          <a:solidFill>
            <a:srgbClr val="E8F8F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3502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contrastive label arrays — CLIP computes cosine similarity between image embedding and each label, then assigns the highest match.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84708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3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Safety Classification: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194560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2194560"/>
            <a:ext cx="502920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19456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231136"/>
            <a:ext cx="5943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"Digital art or sports or news or miscellaneous... nature or scenery or lifestyle or travel or food..."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40880" y="2194560"/>
            <a:ext cx="1810512" cy="566928"/>
          </a:xfrm>
          <a:prstGeom prst="rect">
            <a:avLst/>
          </a:prstGeom>
          <a:solidFill>
            <a:srgbClr val="E8F8F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59168" y="2194560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/ Safe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862072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2862072"/>
            <a:ext cx="502920" cy="5669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862072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898648"/>
            <a:ext cx="5943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"Hindu Deity / OM or AUM or Swastik symbol"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040880" y="2862072"/>
            <a:ext cx="1810512" cy="566928"/>
          </a:xfrm>
          <a:prstGeom prst="rect">
            <a:avLst/>
          </a:prstGeom>
          <a:solidFill>
            <a:srgbClr val="FEE8E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59168" y="2862072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Restricted: Religious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3529584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529584"/>
            <a:ext cx="502920" cy="5669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529584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3566160"/>
            <a:ext cx="5943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“Gore, blood, smoking, alcohol, drugs, gambling,… "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040880" y="3529584"/>
            <a:ext cx="1810512" cy="566928"/>
          </a:xfrm>
          <a:prstGeom prst="rect">
            <a:avLst/>
          </a:prstGeom>
          <a:solidFill>
            <a:srgbClr val="FEE8E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9168" y="3529584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Restricted: Inappropriate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4261104"/>
            <a:ext cx="8503920" cy="621792"/>
          </a:xfrm>
          <a:prstGeom prst="rect">
            <a:avLst/>
          </a:prstGeom>
          <a:solidFill>
            <a:srgbClr val="1A2561"/>
          </a:solidFill>
          <a:ln w="12700">
            <a:solidFill>
              <a:srgbClr val="1A25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42793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ADVANTAGE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53542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model retraining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new rules  ·  </a:t>
            </a: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Non-ML engineers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update by editing text strings  ·  New category = </a:t>
            </a: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one string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561"/>
          </a:solidFill>
          <a:ln w="12700">
            <a:solidFill>
              <a:srgbClr val="1A2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SIGNIFICANCE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76809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3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Comparison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498706"/>
              </p:ext>
            </p:extLst>
          </p:nvPr>
        </p:nvGraphicFramePr>
        <p:xfrm>
          <a:off x="347472" y="1060704"/>
          <a:ext cx="8503920" cy="1787853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9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VLM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</a:t>
                      </a:r>
                      <a:r>
                        <a:rPr lang="en-US" sz="1100" dirty="0" err="1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MiniCPM</a:t>
                      </a:r>
                      <a:r>
                        <a:rPr lang="en-US" sz="11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only)</a:t>
                      </a:r>
                    </a:p>
                  </a:txBody>
                  <a:tcPr>
                    <a:lnL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Ensemble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</a:t>
                      </a:r>
                      <a:r>
                        <a:rPr lang="en-US" sz="1100" dirty="0" err="1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MiniCPM</a:t>
                      </a:r>
                      <a:r>
                        <a:rPr lang="en-US" sz="11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</a:t>
                      </a:r>
                      <a:r>
                        <a:rPr lang="en-US" sz="1100" dirty="0" err="1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SigLip</a:t>
                      </a:r>
                      <a:r>
                        <a:rPr lang="en-US" sz="11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</a:t>
                      </a:r>
                      <a:r>
                        <a:rPr lang="en-US" sz="1100" dirty="0" err="1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Stepfun</a:t>
                      </a:r>
                      <a:r>
                        <a:rPr lang="en-US" sz="11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Ensemble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</a:t>
                      </a:r>
                      <a:r>
                        <a:rPr lang="en-US" sz="1100" b="1" dirty="0" err="1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InternVL</a:t>
                      </a:r>
                      <a:r>
                        <a:rPr lang="en-US" sz="1100" b="1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CLIP + </a:t>
                      </a:r>
                      <a:r>
                        <a:rPr lang="en-US" sz="1100" b="1" dirty="0" err="1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EasyOCR</a:t>
                      </a:r>
                      <a:r>
                        <a:rPr lang="en-US" sz="1100" b="1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~2.6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00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47472" y="269748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4"/>
          <p:cNvSpPr/>
          <p:nvPr/>
        </p:nvSpPr>
        <p:spPr>
          <a:xfrm>
            <a:off x="347472" y="2697480"/>
            <a:ext cx="4572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269748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7523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5.4× Memory Reduction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044952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0.7% accuracy trade-off vs the 14 GB heavy pipeline, with 4× latency speedup.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269748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2697480"/>
            <a:ext cx="457200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269748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230368" y="27523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Decomposition is Necessary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30368" y="3044952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Single-model baseline failure </a:t>
            </a:r>
            <a:r>
              <a:rPr lang="en-US" sz="105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30</a:t>
            </a:r>
            <a:r>
              <a:rPr lang="en-US" sz="10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confirms decomposition is essential, not optional.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47472" y="377647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7472" y="3776472"/>
            <a:ext cx="457200" cy="9601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" y="3776472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14400" y="38313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Imprecision as Design Signal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4123944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EasyOCR's weakness exploited as a human perceptual proxy for readability assessment.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63440" y="377647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5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3776472"/>
            <a:ext cx="457200" cy="960120"/>
          </a:xfrm>
          <a:prstGeom prst="rect">
            <a:avLst/>
          </a:prstGeom>
          <a:solidFill>
            <a:srgbClr val="1A2561"/>
          </a:solidFill>
          <a:ln w="12700">
            <a:solidFill>
              <a:srgbClr val="1A25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3776472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230368" y="38313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Classification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230368" y="4123944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CLIP label arrays achieve sufficient semantic accuracy with zero training data.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561"/>
          </a:solidFill>
          <a:ln w="12700">
            <a:solidFill>
              <a:srgbClr val="1A2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IMPACT ON MACHINE LEARNING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2834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22960"/>
            <a:ext cx="283464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22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3192" y="149961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Task-Decomposed Ensembles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8013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Design Pattern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3192" y="2066544"/>
            <a:ext cx="2560320" cy="0"/>
          </a:xfrm>
          <a:prstGeom prst="line">
            <a:avLst/>
          </a:prstGeom>
          <a:noFill/>
          <a:ln w="9525">
            <a:solidFill>
              <a:srgbClr val="C8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14884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compute is constrained and tasks span multiple modalities, decomposing across specialized small models can outperform a single generalist model.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3192" y="3419856"/>
            <a:ext cx="2560320" cy="0"/>
          </a:xfrm>
          <a:prstGeom prst="line">
            <a:avLst/>
          </a:prstGeom>
          <a:noFill/>
          <a:ln w="9525">
            <a:solidFill>
              <a:srgbClr val="C8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347472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Content moderation · Medical imaging triage · AV perception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822960"/>
            <a:ext cx="2834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822960"/>
            <a:ext cx="2834640" cy="5943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822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37560" y="149961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Imprecision as Feature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18013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for Human Perception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7560" y="2066544"/>
            <a:ext cx="2560320" cy="0"/>
          </a:xfrm>
          <a:prstGeom prst="line">
            <a:avLst/>
          </a:prstGeom>
          <a:noFill/>
          <a:ln w="9525">
            <a:solidFill>
              <a:srgbClr val="C8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14884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model's weakness on a task can serve as a proxy for human perceptual limits — transferable to accessibility research and UI/UX evaluation.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37560" y="3419856"/>
            <a:ext cx="2560320" cy="0"/>
          </a:xfrm>
          <a:prstGeom prst="line">
            <a:avLst/>
          </a:prstGeom>
          <a:noFill/>
          <a:ln w="9525">
            <a:solidFill>
              <a:srgbClr val="C8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47472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Accessibility testing · Automated UI review · UX evaluation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44768" y="822960"/>
            <a:ext cx="2834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5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44768" y="822960"/>
            <a:ext cx="2834640" cy="594360"/>
          </a:xfrm>
          <a:prstGeom prst="rect">
            <a:avLst/>
          </a:prstGeom>
          <a:solidFill>
            <a:srgbClr val="1A2561"/>
          </a:solidFill>
          <a:ln w="12700">
            <a:solidFill>
              <a:srgbClr val="1A25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822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📋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81928" y="149961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Open-Vocabulary Classification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81928" y="18013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Evolving Taxonomies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81928" y="2066544"/>
            <a:ext cx="2560320" cy="0"/>
          </a:xfrm>
          <a:prstGeom prst="line">
            <a:avLst/>
          </a:prstGeom>
          <a:noFill/>
          <a:ln w="9525">
            <a:solidFill>
              <a:srgbClr val="C8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214884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contrastive models with structured label arrays enable ML systems that adapt to changing requirements without retraining.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81928" y="3419856"/>
            <a:ext cx="2560320" cy="0"/>
          </a:xfrm>
          <a:prstGeom prst="line">
            <a:avLst/>
          </a:prstGeom>
          <a:noFill/>
          <a:ln w="9525">
            <a:solidFill>
              <a:srgbClr val="C8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81928" y="347472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Evolving content policy · Regulatory compliance · Moderation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4462272"/>
            <a:ext cx="8631936" cy="493776"/>
          </a:xfrm>
          <a:prstGeom prst="rect">
            <a:avLst/>
          </a:prstGeom>
          <a:solidFill>
            <a:srgbClr val="1A2561"/>
          </a:solidFill>
          <a:ln w="12700">
            <a:solidFill>
              <a:srgbClr val="1A25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462272"/>
            <a:ext cx="8321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IMPACT  ·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 UAT at Samsung R&amp;D  ·  </a:t>
            </a:r>
            <a:r>
              <a:rPr lang="en-US" sz="11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hrs/week</a:t>
            </a:r>
            <a:r>
              <a:rPr lang="en-US" sz="11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manual review eliminated  ·  Validated on production data (6-month independent UAT)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561"/>
          </a:solidFill>
          <a:ln w="12700">
            <a:solidFill>
              <a:srgbClr val="1A2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INTERESTS &amp; GOALS AT MBZUAI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804672"/>
            <a:ext cx="40233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046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INTERESTS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61872"/>
            <a:ext cx="4023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61872"/>
            <a:ext cx="73152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350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Multi-Modal Learning &amp; VLMs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6459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my work on task-aware model composition — moving from empirical selection to learned task routing.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432304"/>
            <a:ext cx="4023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2432304"/>
            <a:ext cx="73152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5054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Resource-Efficient AI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81635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Quantization, knowledge distillation, and edge deployment for real-world constrained environments.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3602736"/>
            <a:ext cx="4023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3602736"/>
            <a:ext cx="73152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6758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LLM Truthfulness &amp; Hallucination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398678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LLMs in reality — using internal model signals to detect fabrication and verify factual claims.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804672"/>
            <a:ext cx="4206240" cy="365760"/>
          </a:xfrm>
          <a:prstGeom prst="rect">
            <a:avLst/>
          </a:prstGeom>
          <a:solidFill>
            <a:srgbClr val="1A2561"/>
          </a:solidFill>
          <a:ln w="12700">
            <a:solidFill>
              <a:srgbClr val="1A25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8046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RESEARCH GOALS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1261872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5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261872"/>
            <a:ext cx="384048" cy="1078992"/>
          </a:xfrm>
          <a:prstGeom prst="rect">
            <a:avLst/>
          </a:prstGeom>
          <a:solidFill>
            <a:srgbClr val="1A2561"/>
          </a:solidFill>
          <a:ln w="12700">
            <a:solidFill>
              <a:srgbClr val="1A25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261872"/>
            <a:ext cx="38404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20640" y="133502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Principled Task Routing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164592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learned methods for decomposing multi-modal tasks across model ensembles — moving beyond empirical model assignment.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2432304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5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2432304"/>
            <a:ext cx="384048" cy="1078992"/>
          </a:xfrm>
          <a:prstGeom prst="rect">
            <a:avLst/>
          </a:prstGeom>
          <a:solidFill>
            <a:srgbClr val="1A2561"/>
          </a:solidFill>
          <a:ln w="12700">
            <a:solidFill>
              <a:srgbClr val="1A25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432304"/>
            <a:ext cx="38404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20640" y="250545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2816352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compressing ensemble behavior into single efficient models while preserving task-specific accuracy gains.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3602736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5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3602736"/>
            <a:ext cx="384048" cy="1078992"/>
          </a:xfrm>
          <a:prstGeom prst="rect">
            <a:avLst/>
          </a:prstGeom>
          <a:solidFill>
            <a:srgbClr val="1A2561"/>
          </a:solidFill>
          <a:ln w="12700">
            <a:solidFill>
              <a:srgbClr val="1A25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602736"/>
            <a:ext cx="38404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120640" y="367588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Detection w/ Prof. Nakov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3986784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 Prof. Preslav Nakov to explore how internal model signals can mathematically ground LLMs — preventing fabrication in continuously evolving systems.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7472" y="4572000"/>
            <a:ext cx="8503920" cy="384048"/>
          </a:xfrm>
          <a:prstGeom prst="rect">
            <a:avLst/>
          </a:prstGeom>
          <a:solidFill>
            <a:srgbClr val="C8DCFC"/>
          </a:solidFill>
          <a:ln w="12700">
            <a:solidFill>
              <a:srgbClr val="C8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57200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2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MBZUAI  ·  </a:t>
            </a:r>
            <a:r>
              <a:rPr lang="en-US" sz="1100" dirty="0">
                <a:solidFill>
                  <a:srgbClr val="1A2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 compute infrastructure  ·  AI as scientific discipline &amp; societal good  ·  Prof. Nakov’s work on LLM hallucination directly aligns with my research goals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928</Words>
  <Application>Microsoft Office PowerPoint</Application>
  <PresentationFormat>On-screen Show (16:9)</PresentationFormat>
  <Paragraphs>148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Resource-Efficient Multi-Modal Ensemble</dc:title>
  <dc:subject>PptxGenJS Presentation</dc:subject>
  <dc:creator>PptxGenJS</dc:creator>
  <cp:lastModifiedBy>Devansh Singh</cp:lastModifiedBy>
  <cp:revision>8</cp:revision>
  <dcterms:created xsi:type="dcterms:W3CDTF">2026-03-08T16:06:27Z</dcterms:created>
  <dcterms:modified xsi:type="dcterms:W3CDTF">2026-03-09T09:38:53Z</dcterms:modified>
</cp:coreProperties>
</file>